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4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Predicting the Founding of
Social Organizations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461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6E4FF"/>
                </a:solidFill>
              </a:rPr>
              <a:t>Among Tecnológico de Monterrey Alumni: A Machine Learning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5943600" cy="36576"/>
          </a:xfrm>
          <a:prstGeom prst="rect">
            <a:avLst/>
          </a:prstGeom>
          <a:solidFill>
            <a:srgbClr val="24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F"/>
                </a:solidFill>
              </a:rPr>
              <a:t>Gerardo Leiva Díaz  ·  Isaac Sánchez Veloquio
David Lozano Arreola  ·  Jorge Betanzo Carriles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57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9BBF"/>
                </a:solidFill>
              </a:rPr>
              <a:t>Tecnológico de Monterrey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4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Introduction to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Mexico has over 40,000 registered non-profit organizations.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6E4FF"/>
                </a:solidFill>
              </a:rPr>
              <a:t>Yet we don't know who founds them — or whether a university education
in social responsibility actually produces social entrepreneurs.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10789920" cy="4572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2B2"/>
                </a:solidFill>
              </a:rPr>
              <a:t>The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Can we identify, from the characteristics of a Tec alumnus,
whether they are likely to have founded a social organization?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9BBF"/>
                </a:solidFill>
              </a:rPr>
              <a:t>QS 80th-anniversary survey  ·  25,356 alumni  ·  Graduating classes 1952–2022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1B3E"/>
                </a:solidFill>
              </a:rPr>
              <a:t>Our Hypothesis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24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3566160" cy="3840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566160" cy="457200"/>
          </a:xfrm>
          <a:prstGeom prst="rect">
            <a:avLst/>
          </a:prstGeom>
          <a:solidFill>
            <a:srgbClr val="24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7957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H1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F"/>
                </a:solidFill>
              </a:rPr>
              <a:t>Civic behavior
— volunteering and donations —
is the strongest predictor
of founding a social organization.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143000"/>
            <a:ext cx="3566160" cy="3840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60520" y="1143000"/>
            <a:ext cx="3566160" cy="457200"/>
          </a:xfrm>
          <a:prstGeom prst="rect">
            <a:avLst/>
          </a:prstGeom>
          <a:solidFill>
            <a:srgbClr val="24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0" y="117957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H2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719072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F"/>
                </a:solidFill>
              </a:rPr>
              <a:t>Accumulated experience
— age, leadership, prior
entrepreneurship —
positively predicts founding.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143000"/>
            <a:ext cx="3566160" cy="3840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55279" y="1143000"/>
            <a:ext cx="3566160" cy="457200"/>
          </a:xfrm>
          <a:prstGeom prst="rect">
            <a:avLst/>
          </a:prstGeom>
          <a:solidFill>
            <a:srgbClr val="24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117957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H3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1719072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F"/>
                </a:solidFill>
              </a:rPr>
              <a:t>Tec competency scores
assessed at graduation
leave a measurable imprint
years later.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212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F"/>
                </a:solidFill>
              </a:rPr>
              <a:t>Three independent hypotheses — all testable with the available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1B3E"/>
                </a:solidFill>
              </a:rPr>
              <a:t>What We Set Out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24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2743200" cy="4754880"/>
          </a:xfrm>
          <a:prstGeom prst="rect">
            <a:avLst/>
          </a:prstGeom>
          <a:solidFill>
            <a:srgbClr val="F5F7FF"/>
          </a:solidFill>
          <a:ln w="19050"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743200" cy="502920"/>
          </a:xfrm>
          <a:prstGeom prst="rect">
            <a:avLst/>
          </a:prstGeom>
          <a:solidFill>
            <a:srgbClr val="24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117043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Predict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2514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Train AI models to identify
which alumni are most likely
to have founded a social
organization.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143000"/>
            <a:ext cx="2743200" cy="4754880"/>
          </a:xfrm>
          <a:prstGeom prst="rect">
            <a:avLst/>
          </a:prstGeom>
          <a:solidFill>
            <a:srgbClr val="F5F7FF"/>
          </a:solidFill>
          <a:ln w="19050"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91840" y="1143000"/>
            <a:ext cx="2743200" cy="502920"/>
          </a:xfrm>
          <a:prstGeom prst="rect">
            <a:avLst/>
          </a:prstGeom>
          <a:solidFill>
            <a:srgbClr val="24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01568" y="117043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783080"/>
            <a:ext cx="2514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Understand which alumni
characteristics drive that
likelihood — and in which
direction.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2743200" cy="4754880"/>
          </a:xfrm>
          <a:prstGeom prst="rect">
            <a:avLst/>
          </a:prstGeom>
          <a:solidFill>
            <a:srgbClr val="F5F7FF"/>
          </a:solidFill>
          <a:ln w="19050"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2743200" cy="502920"/>
          </a:xfrm>
          <a:prstGeom prst="rect">
            <a:avLst/>
          </a:prstGeom>
          <a:solidFill>
            <a:srgbClr val="24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17043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83080"/>
            <a:ext cx="2514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Describe what the high-
probability founder looks like,
so Tec can identify them
early 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143000"/>
            <a:ext cx="2743200" cy="4754880"/>
          </a:xfrm>
          <a:prstGeom prst="rect">
            <a:avLst/>
          </a:prstGeom>
          <a:solidFill>
            <a:srgbClr val="F5F7FF"/>
          </a:solidFill>
          <a:ln w="19050"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0" y="1143000"/>
            <a:ext cx="2743200" cy="502920"/>
          </a:xfrm>
          <a:prstGeom prst="rect">
            <a:avLst/>
          </a:prstGeom>
          <a:solidFill>
            <a:srgbClr val="24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53728" y="117043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Recommend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783080"/>
            <a:ext cx="2514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Translate findings into
concrete actions for
institutional social impact
programs.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1B3E"/>
                </a:solidFill>
              </a:rPr>
              <a:t>Method: Prediction with Artificial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24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48640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2B2"/>
                </a:solidFill>
              </a:rPr>
              <a:t>How does it work?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The model learns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627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F"/>
                </a:solidFill>
              </a:rPr>
              <a:t>from 25,356 alumni for whom
we already know who founded and who didn't.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It analyzes 64 characteristics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8211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F"/>
                </a:solidFill>
              </a:rPr>
              <a:t>per alumnus: age, career,
leadership, volunteering, wellbeing…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It produces a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8795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F"/>
                </a:solidFill>
              </a:rPr>
              <a:t>indicating how likely it is
that a given alumnus founded
a social organization.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It is validated on new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9379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F"/>
                </a:solidFill>
              </a:rPr>
              <a:t>to confirm the learned pattern
is not just memorization.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143000"/>
            <a:ext cx="5669280" cy="5029200"/>
          </a:xfrm>
          <a:prstGeom prst="rect">
            <a:avLst/>
          </a:prstGeom>
          <a:solidFill>
            <a:srgbClr val="F5F7FF"/>
          </a:solidFill>
          <a:ln w="12700">
            <a:solidFill>
              <a:srgbClr val="D6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18872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3E"/>
                </a:solidFill>
              </a:rPr>
              <a:t>The data</a:t>
            </a:r>
          </a:p>
        </p:txBody>
      </p:sp>
      <p:pic>
        <p:nvPicPr>
          <p:cNvPr id="16" name="Picture 15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91640"/>
            <a:ext cx="5303520" cy="231611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63640" y="42519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3E"/>
                </a:solidFill>
              </a:rPr>
              <a:t>Only 7 in every 100 alumni
founded a social organization.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0749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BF"/>
                </a:solidFill>
              </a:rPr>
              <a:t>The model is designed to surface
that minority without overlooking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1B3E"/>
                </a:solidFill>
              </a:rPr>
              <a:t>Models: Six Approaches, One Winner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24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1430000" cy="658368"/>
          </a:xfrm>
          <a:prstGeom prst="rect">
            <a:avLst/>
          </a:prstGeom>
          <a:solidFill>
            <a:srgbClr val="F5F7FF"/>
          </a:solidFill>
          <a:ln w="10160">
            <a:solidFill>
              <a:srgbClr val="D6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B3E"/>
                </a:solidFill>
              </a:rPr>
              <a:t>Logistic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316736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F"/>
                </a:solidFill>
              </a:rPr>
              <a:t>Linear baseline — the simplest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38528"/>
            <a:ext cx="11430000" cy="658368"/>
          </a:xfrm>
          <a:prstGeom prst="rect">
            <a:avLst/>
          </a:prstGeom>
          <a:solidFill>
            <a:srgbClr val="F5F7FF"/>
          </a:solidFill>
          <a:ln w="10160">
            <a:solidFill>
              <a:srgbClr val="D6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066544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B3E"/>
                </a:solidFill>
              </a:rPr>
              <a:t>Decision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066544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F"/>
                </a:solidFill>
              </a:rPr>
              <a:t>Interpretable non-linear baseline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88336"/>
            <a:ext cx="11430000" cy="658368"/>
          </a:xfrm>
          <a:prstGeom prst="rect">
            <a:avLst/>
          </a:prstGeom>
          <a:solidFill>
            <a:srgbClr val="F5F7FF"/>
          </a:solidFill>
          <a:ln w="10160">
            <a:solidFill>
              <a:srgbClr val="D6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81635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B3E"/>
                </a:solidFill>
              </a:rPr>
              <a:t>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816352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F"/>
                </a:solidFill>
              </a:rPr>
              <a:t>Ensemble of trees — robust to noise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38144"/>
            <a:ext cx="11430000" cy="658368"/>
          </a:xfrm>
          <a:prstGeom prst="rect">
            <a:avLst/>
          </a:prstGeom>
          <a:solidFill>
            <a:srgbClr val="247BFF"/>
          </a:solidFill>
          <a:ln w="19050"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Gradient Boosting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566160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Sequential learning — best for tabular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56616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B700"/>
                </a:solidFill>
              </a:rPr>
              <a:t>WINNER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87952"/>
            <a:ext cx="11430000" cy="658368"/>
          </a:xfrm>
          <a:prstGeom prst="rect">
            <a:avLst/>
          </a:prstGeom>
          <a:solidFill>
            <a:srgbClr val="F5F7FF"/>
          </a:solidFill>
          <a:ln w="10160">
            <a:solidFill>
              <a:srgbClr val="D6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315968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B3E"/>
                </a:solidFill>
              </a:rPr>
              <a:t>Naïve Bayes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4315968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F"/>
                </a:solidFill>
              </a:rPr>
              <a:t>Density-estimation 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11430000" cy="658368"/>
          </a:xfrm>
          <a:prstGeom prst="rect">
            <a:avLst/>
          </a:prstGeom>
          <a:solidFill>
            <a:srgbClr val="F5F7FF"/>
          </a:solidFill>
          <a:ln w="10160">
            <a:solidFill>
              <a:srgbClr val="D6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065776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B3E"/>
                </a:solidFill>
              </a:rPr>
              <a:t>QDA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5065776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F"/>
                </a:solidFill>
              </a:rPr>
              <a:t>Class-specific covariance 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806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F"/>
                </a:solidFill>
              </a:rPr>
              <a:t>All models were compared on the same data. Gradient Boosting best separated founders from non-founders — and held up equally well on data it had never seen.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1B3E"/>
                </a:solidFill>
              </a:rPr>
              <a:t>Results: How Well Does It Work?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24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only_roc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61" y="1241274"/>
            <a:ext cx="5404791" cy="54727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28016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3E"/>
                </a:solidFill>
              </a:rPr>
              <a:t>Gradient Boosting
is clearly
ahead.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2880360"/>
            <a:ext cx="4480560" cy="45720"/>
          </a:xfrm>
          <a:prstGeom prst="rect">
            <a:avLst/>
          </a:prstGeom>
          <a:solidFill>
            <a:srgbClr val="24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79" y="3063240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BBF"/>
                </a:solidFill>
              </a:rPr>
              <a:t>Each curve is a model.
Higher and further left = better.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3977639"/>
            <a:ext cx="4480560" cy="1783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35240" y="4069080"/>
            <a:ext cx="4206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By adjusting the model's sensitivity,
we go from identifying
54 → 550 founders
per 1,000 alumni screened.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58978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00C2B2"/>
                </a:solidFill>
              </a:rPr>
              <a:t>10× more impact  ·  same model  ·  same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1B3E"/>
                </a:solidFill>
              </a:rPr>
              <a:t>Results: Who Is the Founder?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24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hap_global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217920" cy="550984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66560" y="1143000"/>
            <a:ext cx="5029200" cy="51206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1188720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B2"/>
                </a:solidFill>
              </a:rPr>
              <a:t>The founder's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78308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Active volunteer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11226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F"/>
                </a:solidFill>
              </a:rPr>
              <a:t>The strongest signal — by far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2423160"/>
            <a:ext cx="4572000" cy="1828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253288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Has founded another 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86207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F"/>
                </a:solidFill>
              </a:rPr>
              <a:t>Prior entrepreneurship as a foundation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3172968"/>
            <a:ext cx="4572000" cy="1828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0" y="328269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Older and more experienced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611879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F"/>
                </a:solidFill>
              </a:rPr>
              <a:t>Maturity matters more than field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922776"/>
            <a:ext cx="4572000" cy="1828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0" y="403250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Donates to social causes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36168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F"/>
                </a:solidFill>
              </a:rPr>
              <a:t>Civic intent expressed through 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4672584"/>
            <a:ext cx="4572000" cy="1828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478231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Has held CEO or board 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11149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F"/>
                </a:solidFill>
              </a:rPr>
              <a:t>Formal leadership as a precursor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5422392"/>
            <a:ext cx="4572000" cy="1828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55321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High entrepreneurship score
since university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586130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F"/>
                </a:solidFill>
              </a:rPr>
              <a:t>Tec leaves a measurable imprint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6172200"/>
            <a:ext cx="4572000" cy="1828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5943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9BBF"/>
                </a:solidFill>
              </a:rPr>
              <a:t>Civic behavior dominates. Demographics alone don't predict — what someone does matters more than who they 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Conclusions &amp; Implications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5394960" cy="42976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B2"/>
                </a:solidFill>
              </a:rPr>
              <a:t>What we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F"/>
                </a:solidFill>
              </a:rPr>
              <a:t>▸  Volunteering is the most powerful 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8658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F"/>
                </a:solidFill>
              </a:rPr>
              <a:t>▸  Experience and leadership matter — not just 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9864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F"/>
                </a:solidFill>
              </a:rPr>
              <a:t>▸  Tec shapes measurable social entrepreneurs decades later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1071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F"/>
                </a:solidFill>
              </a:rPr>
              <a:t>▸  Adjusted sensitivity: 10× more founders identified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22776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F"/>
                </a:solidFill>
              </a:rPr>
              <a:t>▸  The founder profile is clear and actionable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280160"/>
            <a:ext cx="5806440" cy="42976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13258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700"/>
                </a:solidFill>
              </a:rPr>
              <a:t>What Tec can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87451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Identify early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221991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F"/>
                </a:solidFill>
              </a:rPr>
              <a:t>Volunteering · Entrepreneurship competency · Sense of purpose
Already measured. No new data needed.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83463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Prioritize 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182111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F"/>
                </a:solidFill>
              </a:rPr>
              <a:t>Direct fellowship and incubation programs toward
profiles with the highest social impact potential.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79475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Iterate with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142231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F"/>
                </a:solidFill>
              </a:rPr>
              <a:t>Re-train the model with new graduating cohorts.
Pilot on one campus before scaling.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75487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Audit for fairness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5102351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F"/>
                </a:solidFill>
              </a:rPr>
              <a:t>The model shows a mild socioeconomic skew —
review before any institutional deployment.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760720"/>
            <a:ext cx="11457432" cy="45720"/>
          </a:xfrm>
          <a:prstGeom prst="rect">
            <a:avLst/>
          </a:prstGeom>
          <a:solidFill>
            <a:srgbClr val="24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5897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2B2"/>
                </a:solidFill>
              </a:rPr>
              <a:t>Three signals already available:  ① Volunteering  ·  ② Entrepreneurship competency  ·  ③ Sense of purpose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4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D6E4FF"/>
                </a:solidFill>
              </a:rP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160520"/>
            <a:ext cx="7315200" cy="45720"/>
          </a:xfrm>
          <a:prstGeom prst="rect">
            <a:avLst/>
          </a:prstGeom>
          <a:solidFill>
            <a:srgbClr val="24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34340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F"/>
                </a:solidFill>
              </a:rPr>
              <a:t>Gerardo Leiva Díaz  ·  Isaac Sánchez Veloquio
David Lozano Arreola  ·  Jorge Betanzo Carriles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9BBF"/>
                </a:solidFill>
              </a:rPr>
              <a:t>Tecnológico de Monterrey  ·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760</Words>
  <Application>Microsoft Office PowerPoint</Application>
  <PresentationFormat>Custom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Lozano</cp:lastModifiedBy>
  <cp:revision>2</cp:revision>
  <dcterms:created xsi:type="dcterms:W3CDTF">2013-01-27T09:14:16Z</dcterms:created>
  <dcterms:modified xsi:type="dcterms:W3CDTF">2026-06-11T05:02:33Z</dcterms:modified>
  <cp:category/>
</cp:coreProperties>
</file>